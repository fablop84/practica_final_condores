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eague Spartan" charset="1" panose="00000800000000000000"/>
      <p:regular r:id="rId30"/>
    </p:embeddedFont>
    <p:embeddedFont>
      <p:font typeface="DM Sans Bold" charset="1" panose="00000000000000000000"/>
      <p:regular r:id="rId31"/>
    </p:embeddedFont>
    <p:embeddedFont>
      <p:font typeface="TT Drugs" charset="1" panose="02000503060000020003"/>
      <p:regular r:id="rId32"/>
    </p:embeddedFont>
    <p:embeddedFont>
      <p:font typeface="DM Sans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jpe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jpe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jpe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jpe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22027" y="217376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9260" y="6654898"/>
            <a:ext cx="7315200" cy="2380764"/>
          </a:xfrm>
          <a:custGeom>
            <a:avLst/>
            <a:gdLst/>
            <a:ahLst/>
            <a:cxnLst/>
            <a:rect r="r" b="b" t="t" l="l"/>
            <a:pathLst>
              <a:path h="2380764" w="7315200">
                <a:moveTo>
                  <a:pt x="0" y="0"/>
                </a:moveTo>
                <a:lnTo>
                  <a:pt x="7315200" y="0"/>
                </a:lnTo>
                <a:lnTo>
                  <a:pt x="7315200" y="2380765"/>
                </a:lnTo>
                <a:lnTo>
                  <a:pt x="0" y="2380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4" t="0" r="-5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67686" y="140234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28009" y="839618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69903" y="2468880"/>
            <a:ext cx="13260753" cy="519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7"/>
              </a:lnSpc>
            </a:pPr>
            <a:r>
              <a:rPr lang="en-US" sz="8216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Transformando las licitaciones de mercado en patrones predecibles </a:t>
            </a:r>
          </a:p>
          <a:p>
            <a:pPr algn="l">
              <a:lnSpc>
                <a:spcPts val="73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69903" y="7285492"/>
            <a:ext cx="5355212" cy="31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b="true" sz="1772" spc="354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PROYECTO CONDORES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98968" y="1815579"/>
            <a:ext cx="4198363" cy="95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5142" spc="780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CHILEC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17218" y="2691289"/>
            <a:ext cx="4161863" cy="38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2"/>
              </a:lnSpc>
            </a:pPr>
            <a:r>
              <a:rPr lang="en-US" sz="2002" spc="372">
                <a:solidFill>
                  <a:srgbClr val="0CC0DF"/>
                </a:solidFill>
                <a:latin typeface="TT Drugs"/>
                <a:ea typeface="TT Drugs"/>
                <a:cs typeface="TT Drugs"/>
                <a:sym typeface="TT Drugs"/>
              </a:rPr>
              <a:t>CHILE COMPRA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32482" y="390592"/>
            <a:ext cx="1687554" cy="1276217"/>
          </a:xfrm>
          <a:custGeom>
            <a:avLst/>
            <a:gdLst/>
            <a:ahLst/>
            <a:cxnLst/>
            <a:rect r="r" b="b" t="t" l="l"/>
            <a:pathLst>
              <a:path h="1276217" w="1687554">
                <a:moveTo>
                  <a:pt x="0" y="0"/>
                </a:moveTo>
                <a:lnTo>
                  <a:pt x="1687554" y="0"/>
                </a:lnTo>
                <a:lnTo>
                  <a:pt x="1687554" y="1276216"/>
                </a:lnTo>
                <a:lnTo>
                  <a:pt x="0" y="1276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86" r="0" b="-88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76254" y="390592"/>
            <a:ext cx="1687554" cy="1276217"/>
          </a:xfrm>
          <a:custGeom>
            <a:avLst/>
            <a:gdLst/>
            <a:ahLst/>
            <a:cxnLst/>
            <a:rect r="r" b="b" t="t" l="l"/>
            <a:pathLst>
              <a:path h="1276217" w="1687554">
                <a:moveTo>
                  <a:pt x="0" y="0"/>
                </a:moveTo>
                <a:lnTo>
                  <a:pt x="1687554" y="0"/>
                </a:lnTo>
                <a:lnTo>
                  <a:pt x="1687554" y="1276216"/>
                </a:lnTo>
                <a:lnTo>
                  <a:pt x="0" y="1276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86" r="0" b="-88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71158" y="1922336"/>
            <a:ext cx="6615322" cy="6615322"/>
          </a:xfrm>
          <a:custGeom>
            <a:avLst/>
            <a:gdLst/>
            <a:ahLst/>
            <a:cxnLst/>
            <a:rect r="r" b="b" t="t" l="l"/>
            <a:pathLst>
              <a:path h="6615322" w="6615322">
                <a:moveTo>
                  <a:pt x="0" y="0"/>
                </a:moveTo>
                <a:lnTo>
                  <a:pt x="6615322" y="0"/>
                </a:lnTo>
                <a:lnTo>
                  <a:pt x="6615322" y="6615322"/>
                </a:lnTo>
                <a:lnTo>
                  <a:pt x="0" y="661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55615" y="2637825"/>
            <a:ext cx="5246389" cy="5246370"/>
            <a:chOff x="0" y="0"/>
            <a:chExt cx="6995185" cy="6995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5160" cy="6995160"/>
            </a:xfrm>
            <a:custGeom>
              <a:avLst/>
              <a:gdLst/>
              <a:ahLst/>
              <a:cxnLst/>
              <a:rect r="r" b="b" t="t" l="l"/>
              <a:pathLst>
                <a:path h="6995160" w="6995160">
                  <a:moveTo>
                    <a:pt x="6995160" y="3497580"/>
                  </a:moveTo>
                  <a:cubicBezTo>
                    <a:pt x="6995160" y="5429123"/>
                    <a:pt x="5429250" y="6995160"/>
                    <a:pt x="3497580" y="6995160"/>
                  </a:cubicBezTo>
                  <a:cubicBezTo>
                    <a:pt x="1565910" y="6995160"/>
                    <a:pt x="0" y="5429250"/>
                    <a:pt x="0" y="3497580"/>
                  </a:cubicBezTo>
                  <a:cubicBezTo>
                    <a:pt x="0" y="1565910"/>
                    <a:pt x="1565910" y="0"/>
                    <a:pt x="3497580" y="0"/>
                  </a:cubicBezTo>
                  <a:cubicBezTo>
                    <a:pt x="5429250" y="0"/>
                    <a:pt x="6995160" y="1565910"/>
                    <a:pt x="6995160" y="3497580"/>
                  </a:cubicBezTo>
                  <a:close/>
                </a:path>
              </a:pathLst>
            </a:custGeom>
            <a:blipFill>
              <a:blip r:embed="rId8"/>
              <a:stretch>
                <a:fillRect l="-25364" t="0" r="-2536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56508" y="2766641"/>
            <a:ext cx="16131492" cy="30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1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CAOS EN EL</a:t>
            </a:r>
          </a:p>
          <a:p>
            <a:pPr algn="l">
              <a:lnSpc>
                <a:spcPts val="7931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MERCADO DE</a:t>
            </a:r>
          </a:p>
          <a:p>
            <a:pPr algn="l">
              <a:lnSpc>
                <a:spcPts val="7931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LICITACIONES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6508" y="5879497"/>
            <a:ext cx="7826464" cy="272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mercado público chileno acumula históricamente 826.238 licitaciones de carácter publico privado.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El problema central es que las empresas proveedoras operan de forma completamente reactiva: esperan a que el Estado publique una licitación, entonces actúan.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285325" y="7658976"/>
            <a:ext cx="7315200" cy="2380764"/>
          </a:xfrm>
          <a:custGeom>
            <a:avLst/>
            <a:gdLst/>
            <a:ahLst/>
            <a:cxnLst/>
            <a:rect r="r" b="b" t="t" l="l"/>
            <a:pathLst>
              <a:path h="2380764" w="7315200">
                <a:moveTo>
                  <a:pt x="0" y="0"/>
                </a:moveTo>
                <a:lnTo>
                  <a:pt x="7315200" y="0"/>
                </a:lnTo>
                <a:lnTo>
                  <a:pt x="7315200" y="2380765"/>
                </a:lnTo>
                <a:lnTo>
                  <a:pt x="0" y="2380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4" t="0" r="-5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6508" y="2947664"/>
            <a:ext cx="9666484" cy="77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 ESTADO NO AVISA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78301" y="847639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3" y="0"/>
                </a:lnTo>
                <a:lnTo>
                  <a:pt x="5495753" y="2636168"/>
                </a:lnTo>
                <a:lnTo>
                  <a:pt x="0" y="2636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78301" y="653825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3" y="0"/>
                </a:lnTo>
                <a:lnTo>
                  <a:pt x="5495753" y="2636167"/>
                </a:lnTo>
                <a:lnTo>
                  <a:pt x="0" y="2636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01501" y="1371209"/>
            <a:ext cx="3109217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6"/>
              </a:lnSpc>
            </a:pPr>
            <a:r>
              <a:rPr lang="en-US" sz="2345" b="true">
                <a:solidFill>
                  <a:srgbClr val="3333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VOLUMEN MASIVO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808228" y="4037343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4" y="0"/>
                </a:lnTo>
                <a:lnTo>
                  <a:pt x="5495754" y="2636167"/>
                </a:lnTo>
                <a:lnTo>
                  <a:pt x="0" y="2636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08228" y="3843528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4" y="0"/>
                </a:lnTo>
                <a:lnTo>
                  <a:pt x="5495754" y="2636168"/>
                </a:lnTo>
                <a:lnTo>
                  <a:pt x="0" y="2636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31438" y="4560913"/>
            <a:ext cx="3109217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6"/>
              </a:lnSpc>
            </a:pPr>
            <a:r>
              <a:rPr lang="en-US" sz="2345" b="true">
                <a:solidFill>
                  <a:srgbClr val="3333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TIEMPO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08228" y="6997008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4" y="0"/>
                </a:lnTo>
                <a:lnTo>
                  <a:pt x="5495754" y="2636167"/>
                </a:lnTo>
                <a:lnTo>
                  <a:pt x="0" y="2636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08228" y="6803193"/>
            <a:ext cx="5495754" cy="2636168"/>
          </a:xfrm>
          <a:custGeom>
            <a:avLst/>
            <a:gdLst/>
            <a:ahLst/>
            <a:cxnLst/>
            <a:rect r="r" b="b" t="t" l="l"/>
            <a:pathLst>
              <a:path h="2636168" w="5495754">
                <a:moveTo>
                  <a:pt x="0" y="0"/>
                </a:moveTo>
                <a:lnTo>
                  <a:pt x="5495754" y="0"/>
                </a:lnTo>
                <a:lnTo>
                  <a:pt x="5495754" y="2636168"/>
                </a:lnTo>
                <a:lnTo>
                  <a:pt x="0" y="2636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31438" y="7520578"/>
            <a:ext cx="3109217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6"/>
              </a:lnSpc>
            </a:pPr>
            <a:r>
              <a:rPr lang="en-US" sz="2345" b="true">
                <a:solidFill>
                  <a:srgbClr val="3333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24752" y="1876663"/>
            <a:ext cx="3722570" cy="5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Más de 800.000 licitaciones, es un mercado grande.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4752" y="4945494"/>
            <a:ext cx="372257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Al ser una propuesta del estado, el tiempo es fundamental a la hora de presentar el proyecto.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6508" y="4001262"/>
            <a:ext cx="7826464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empresas solo saben de la licitacion despues de la notificación del estado.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Por lo que no pueden preparar una propuesta para ser diferencial a sus competidores.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Existe la necidad por parte de las empresas de información sobre las licitaciones.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4752" y="7905769"/>
            <a:ext cx="372257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No sabes que tipo de contrato es el próximo en salir a concurso.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68949" y="3138011"/>
            <a:ext cx="12550102" cy="260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2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Chile Compra nace como el motor predictivo de licitaciones del mercado.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96429" y="244447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42098" y="167305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34285" y="7715460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8617" y="6944039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1"/>
                </a:lnTo>
                <a:lnTo>
                  <a:pt x="0" y="154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916" y="8486880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2" y="0"/>
                </a:lnTo>
                <a:lnTo>
                  <a:pt x="6356452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40825" y="1928479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2" y="0"/>
                </a:lnTo>
                <a:lnTo>
                  <a:pt x="6356452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2310" y="5956183"/>
            <a:ext cx="1255010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598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Las empresas podran prepararse para presentar sus proyectos gracias al motor predictivo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59592" y="2896753"/>
            <a:ext cx="6814147" cy="6280537"/>
            <a:chOff x="0" y="0"/>
            <a:chExt cx="9085529" cy="8374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9034780" cy="8323199"/>
            </a:xfrm>
            <a:custGeom>
              <a:avLst/>
              <a:gdLst/>
              <a:ahLst/>
              <a:cxnLst/>
              <a:rect r="r" b="b" t="t" l="l"/>
              <a:pathLst>
                <a:path h="8323199" w="9034780">
                  <a:moveTo>
                    <a:pt x="0" y="0"/>
                  </a:moveTo>
                  <a:lnTo>
                    <a:pt x="9034780" y="0"/>
                  </a:lnTo>
                  <a:lnTo>
                    <a:pt x="9034780" y="8323199"/>
                  </a:lnTo>
                  <a:lnTo>
                    <a:pt x="0" y="8323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21" t="-305" r="-320" b="-30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85580" cy="8373999"/>
            </a:xfrm>
            <a:custGeom>
              <a:avLst/>
              <a:gdLst/>
              <a:ahLst/>
              <a:cxnLst/>
              <a:rect r="r" b="b" t="t" l="l"/>
              <a:pathLst>
                <a:path h="8373999" w="9085580">
                  <a:moveTo>
                    <a:pt x="25400" y="0"/>
                  </a:moveTo>
                  <a:lnTo>
                    <a:pt x="9060180" y="0"/>
                  </a:lnTo>
                  <a:cubicBezTo>
                    <a:pt x="9074150" y="0"/>
                    <a:pt x="9085580" y="11430"/>
                    <a:pt x="9085580" y="25400"/>
                  </a:cubicBezTo>
                  <a:lnTo>
                    <a:pt x="9085580" y="8348599"/>
                  </a:lnTo>
                  <a:cubicBezTo>
                    <a:pt x="9085580" y="8362569"/>
                    <a:pt x="9074150" y="8373999"/>
                    <a:pt x="9060180" y="8373999"/>
                  </a:cubicBezTo>
                  <a:lnTo>
                    <a:pt x="25400" y="8373999"/>
                  </a:lnTo>
                  <a:cubicBezTo>
                    <a:pt x="11430" y="8373999"/>
                    <a:pt x="0" y="8362569"/>
                    <a:pt x="0" y="8348599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348599"/>
                  </a:lnTo>
                  <a:lnTo>
                    <a:pt x="25400" y="8348599"/>
                  </a:lnTo>
                  <a:lnTo>
                    <a:pt x="25400" y="8323199"/>
                  </a:lnTo>
                  <a:lnTo>
                    <a:pt x="9060180" y="8323199"/>
                  </a:lnTo>
                  <a:lnTo>
                    <a:pt x="9060180" y="8348599"/>
                  </a:lnTo>
                  <a:lnTo>
                    <a:pt x="9034780" y="8348599"/>
                  </a:lnTo>
                  <a:lnTo>
                    <a:pt x="9034780" y="25400"/>
                  </a:lnTo>
                  <a:lnTo>
                    <a:pt x="9060180" y="25400"/>
                  </a:lnTo>
                  <a:lnTo>
                    <a:pt x="90601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6F6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071021" y="2196636"/>
            <a:ext cx="9007621" cy="13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¿CÓMO FUNCIONA?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1021" y="3872941"/>
            <a:ext cx="8514264" cy="501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El gasto público no es aleatorio, sigue patrones predecibles. 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Chile Compra es un motor de predictibilidad el cual transforma datos brutos de la </a:t>
            </a:r>
            <a:r>
              <a:rPr lang="en-US" sz="24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API de Mercado Libre</a:t>
            </a: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 datos estratégicos para empresas.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motor recoge los datos y los presenta en un dashboard donde el cliente puede ver los datos de forma visual.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datos obtenidos son desde el 2020 hasta el 2025. 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55780" y="4889640"/>
            <a:ext cx="3346180" cy="4591021"/>
          </a:xfrm>
          <a:custGeom>
            <a:avLst/>
            <a:gdLst/>
            <a:ahLst/>
            <a:cxnLst/>
            <a:rect r="r" b="b" t="t" l="l"/>
            <a:pathLst>
              <a:path h="4591021" w="3346180">
                <a:moveTo>
                  <a:pt x="0" y="0"/>
                </a:moveTo>
                <a:lnTo>
                  <a:pt x="3346180" y="0"/>
                </a:lnTo>
                <a:lnTo>
                  <a:pt x="3346180" y="4591021"/>
                </a:lnTo>
                <a:lnTo>
                  <a:pt x="0" y="4591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1021" y="2196636"/>
            <a:ext cx="13612854" cy="260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TRANSFORMA DATOS BRUTOS EN ESTRATEGIA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10296" y="4889640"/>
            <a:ext cx="3346180" cy="4591021"/>
          </a:xfrm>
          <a:custGeom>
            <a:avLst/>
            <a:gdLst/>
            <a:ahLst/>
            <a:cxnLst/>
            <a:rect r="r" b="b" t="t" l="l"/>
            <a:pathLst>
              <a:path h="4591021" w="3346180">
                <a:moveTo>
                  <a:pt x="0" y="0"/>
                </a:moveTo>
                <a:lnTo>
                  <a:pt x="3346180" y="0"/>
                </a:lnTo>
                <a:lnTo>
                  <a:pt x="3346180" y="4591021"/>
                </a:lnTo>
                <a:lnTo>
                  <a:pt x="0" y="4591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66026" y="4889640"/>
            <a:ext cx="3382604" cy="4609233"/>
          </a:xfrm>
          <a:custGeom>
            <a:avLst/>
            <a:gdLst/>
            <a:ahLst/>
            <a:cxnLst/>
            <a:rect r="r" b="b" t="t" l="l"/>
            <a:pathLst>
              <a:path h="4609233" w="3382604">
                <a:moveTo>
                  <a:pt x="0" y="0"/>
                </a:moveTo>
                <a:lnTo>
                  <a:pt x="3382604" y="0"/>
                </a:lnTo>
                <a:lnTo>
                  <a:pt x="3382604" y="4609233"/>
                </a:lnTo>
                <a:lnTo>
                  <a:pt x="0" y="4609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58180" y="4889640"/>
            <a:ext cx="3346180" cy="4591021"/>
          </a:xfrm>
          <a:custGeom>
            <a:avLst/>
            <a:gdLst/>
            <a:ahLst/>
            <a:cxnLst/>
            <a:rect r="r" b="b" t="t" l="l"/>
            <a:pathLst>
              <a:path h="4591021" w="3346180">
                <a:moveTo>
                  <a:pt x="0" y="0"/>
                </a:moveTo>
                <a:lnTo>
                  <a:pt x="3346180" y="0"/>
                </a:lnTo>
                <a:lnTo>
                  <a:pt x="3346180" y="4591021"/>
                </a:lnTo>
                <a:lnTo>
                  <a:pt x="0" y="4591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8272" y="5465693"/>
            <a:ext cx="3021197" cy="43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73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79924" y="6103029"/>
            <a:ext cx="2497874" cy="162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Limpieza de ruido e identificación de compradores ciclicos.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3402" y="5465693"/>
            <a:ext cx="3021197" cy="43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73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3626" y="6103029"/>
            <a:ext cx="2497874" cy="162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 de ML que proyecta la demanda a 12 meses.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89851" y="5465693"/>
            <a:ext cx="3021197" cy="43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73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Prioriza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60066" y="6103029"/>
            <a:ext cx="2497874" cy="203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Ranking para priorizar organismos que licitan de alto potencial.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34380" y="5465693"/>
            <a:ext cx="3021197" cy="43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73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Simplifica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04594" y="6103029"/>
            <a:ext cx="2497874" cy="203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Visualización</a:t>
            </a: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 el dashboard de los datos de forma sencilla y organizada.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23850" y="4907851"/>
            <a:ext cx="3346180" cy="4591021"/>
          </a:xfrm>
          <a:custGeom>
            <a:avLst/>
            <a:gdLst/>
            <a:ahLst/>
            <a:cxnLst/>
            <a:rect r="r" b="b" t="t" l="l"/>
            <a:pathLst>
              <a:path h="4591021" w="3346180">
                <a:moveTo>
                  <a:pt x="0" y="0"/>
                </a:moveTo>
                <a:lnTo>
                  <a:pt x="3346180" y="0"/>
                </a:lnTo>
                <a:lnTo>
                  <a:pt x="3346180" y="4591022"/>
                </a:lnTo>
                <a:lnTo>
                  <a:pt x="0" y="4591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3025" y="5465693"/>
            <a:ext cx="2571631" cy="49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373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Extracción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9893" y="6103029"/>
            <a:ext cx="2497874" cy="12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Extracción de datos de la API de Mercado Público.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EXTRACCIÓN DE LA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5381" y="4166947"/>
            <a:ext cx="9102501" cy="4967528"/>
            <a:chOff x="0" y="0"/>
            <a:chExt cx="13722312" cy="7488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22325" cy="7488682"/>
            </a:xfrm>
            <a:custGeom>
              <a:avLst/>
              <a:gdLst/>
              <a:ahLst/>
              <a:cxnLst/>
              <a:rect r="r" b="b" t="t" l="l"/>
              <a:pathLst>
                <a:path h="7488682" w="13722325">
                  <a:moveTo>
                    <a:pt x="0" y="0"/>
                  </a:moveTo>
                  <a:lnTo>
                    <a:pt x="13722325" y="0"/>
                  </a:lnTo>
                  <a:lnTo>
                    <a:pt x="13722325" y="7488682"/>
                  </a:lnTo>
                  <a:lnTo>
                    <a:pt x="0" y="7488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944" t="0" r="-794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8160" y="4791431"/>
            <a:ext cx="5684682" cy="364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realiza la extracción usando la API de Licitaciones. Establecemos el periodo desde 2020 al 2025.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Herramientas usadas: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Google Colaboratory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Python + librerias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Google Drive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39077" y="254265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1"/>
                </a:lnTo>
                <a:lnTo>
                  <a:pt x="0" y="154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4735" y="-517164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40513" y="718228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18523" y="3457583"/>
            <a:ext cx="8889987" cy="5800717"/>
          </a:xfrm>
          <a:custGeom>
            <a:avLst/>
            <a:gdLst/>
            <a:ahLst/>
            <a:cxnLst/>
            <a:rect r="r" b="b" t="t" l="l"/>
            <a:pathLst>
              <a:path h="5800717" w="8889987">
                <a:moveTo>
                  <a:pt x="0" y="0"/>
                </a:moveTo>
                <a:lnTo>
                  <a:pt x="8889987" y="0"/>
                </a:lnTo>
                <a:lnTo>
                  <a:pt x="8889987" y="5800717"/>
                </a:lnTo>
                <a:lnTo>
                  <a:pt x="0" y="5800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574618" y="7048500"/>
          <a:ext cx="6713382" cy="3238500"/>
        </p:xfrm>
        <a:graphic>
          <a:graphicData uri="http://schemas.openxmlformats.org/drawingml/2006/table">
            <a:tbl>
              <a:tblPr/>
              <a:tblGrid>
                <a:gridCol w="2237794"/>
                <a:gridCol w="2357816"/>
                <a:gridCol w="2117772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Dolares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Pesos Chilenos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7.000.000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70.000.000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Euros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67.000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140513" y="1293239"/>
            <a:ext cx="13612854" cy="13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DESCARTAMOS EL RUIDO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74618" y="2588544"/>
            <a:ext cx="5684682" cy="364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reduce las 826.238 licitaciones a 451 organismos (empresas), con lo que podemos seccionar las oportunidades reales de contrato.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Logramos con este resultamos averiguar que solo el 25% del mercado concentra una oporunidad real.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4618" y="6557489"/>
            <a:ext cx="403733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UTM (Unidad Tributario Mensual)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7093" y="7511767"/>
            <a:ext cx="7315200" cy="2380764"/>
          </a:xfrm>
          <a:custGeom>
            <a:avLst/>
            <a:gdLst/>
            <a:ahLst/>
            <a:cxnLst/>
            <a:rect r="r" b="b" t="t" l="l"/>
            <a:pathLst>
              <a:path h="2380764" w="7315200">
                <a:moveTo>
                  <a:pt x="0" y="0"/>
                </a:moveTo>
                <a:lnTo>
                  <a:pt x="7315200" y="0"/>
                </a:lnTo>
                <a:lnTo>
                  <a:pt x="7315200" y="2380765"/>
                </a:lnTo>
                <a:lnTo>
                  <a:pt x="0" y="2380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4" t="0" r="-5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5842" y="9258300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71967" y="4458757"/>
            <a:ext cx="3817375" cy="3310705"/>
          </a:xfrm>
          <a:custGeom>
            <a:avLst/>
            <a:gdLst/>
            <a:ahLst/>
            <a:cxnLst/>
            <a:rect r="r" b="b" t="t" l="l"/>
            <a:pathLst>
              <a:path h="3310705" w="3817375">
                <a:moveTo>
                  <a:pt x="0" y="0"/>
                </a:moveTo>
                <a:lnTo>
                  <a:pt x="3817375" y="0"/>
                </a:lnTo>
                <a:lnTo>
                  <a:pt x="3817375" y="3310705"/>
                </a:lnTo>
                <a:lnTo>
                  <a:pt x="0" y="3310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84880" y="1276350"/>
            <a:ext cx="14013656" cy="8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Predecibilidad  en 6 dimensiones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4880" y="2170833"/>
            <a:ext cx="14285757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El volumen sin predecibilidad no es oportunidad, es ruido. Se han evaluado 451 organismos mediante 6 dimensioanes algorítimicas para obtener un score de ciclicidad único.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4204" y="3590070"/>
            <a:ext cx="411233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Concentración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Peso de compras en meses especificos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0481" y="5788440"/>
            <a:ext cx="216568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Entropía Inversa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Nivel de orden en  la distribución mensual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96411" y="7702787"/>
            <a:ext cx="3900126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Estabilidad interanual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Consistencia del mes de mayor compra año a año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817087"/>
            <a:ext cx="34046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Coeficiente de Variación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Bajo = Constante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62" y="3590070"/>
            <a:ext cx="273090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Peso Mes Dominante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Proporción de gasto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7129" y="3314805"/>
            <a:ext cx="5393507" cy="501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El volumen sin predecibilidad no es oportunidad, es ruido.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Se han evaluado 451 organismos mediante 5 dimensiones algorítimicas para obtener un score de ciclicidad único. Se obtiene un resultado de evaluación de 4 clusters y se escoge el cluster con mayor score final de los 4, el cual corresponde a 19 organismos y 4.031 licitaciones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001340" y="4917867"/>
            <a:ext cx="2758630" cy="2392485"/>
          </a:xfrm>
          <a:custGeom>
            <a:avLst/>
            <a:gdLst/>
            <a:ahLst/>
            <a:cxnLst/>
            <a:rect r="r" b="b" t="t" l="l"/>
            <a:pathLst>
              <a:path h="2392485" w="2758630">
                <a:moveTo>
                  <a:pt x="0" y="0"/>
                </a:moveTo>
                <a:lnTo>
                  <a:pt x="2758630" y="0"/>
                </a:lnTo>
                <a:lnTo>
                  <a:pt x="2758630" y="2392485"/>
                </a:lnTo>
                <a:lnTo>
                  <a:pt x="0" y="2392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0692" y="5788440"/>
            <a:ext cx="3404673" cy="67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Ciclicidad relativa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Capacidad de predicción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8523" y="2001126"/>
            <a:ext cx="12008682" cy="60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RANKING DE CLIENTES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53691" y="1062428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99349" y="290998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1"/>
                </a:lnTo>
                <a:lnTo>
                  <a:pt x="0" y="154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57121" y="2927299"/>
            <a:ext cx="9436065" cy="7026545"/>
            <a:chOff x="0" y="0"/>
            <a:chExt cx="10950791" cy="81544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0829" cy="8154495"/>
            </a:xfrm>
            <a:custGeom>
              <a:avLst/>
              <a:gdLst/>
              <a:ahLst/>
              <a:cxnLst/>
              <a:rect r="r" b="b" t="t" l="l"/>
              <a:pathLst>
                <a:path h="8154495" w="10950829">
                  <a:moveTo>
                    <a:pt x="0" y="0"/>
                  </a:moveTo>
                  <a:lnTo>
                    <a:pt x="10950829" y="0"/>
                  </a:lnTo>
                  <a:lnTo>
                    <a:pt x="10950829" y="8154495"/>
                  </a:lnTo>
                  <a:lnTo>
                    <a:pt x="0" y="8154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2" t="0" r="-22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35450" y="7591650"/>
            <a:ext cx="6346155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Tendras a tu disposición un filtro en el dasboard para seleccionar fechas y hallar el mejor organismo por fecha.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5450" y="2942466"/>
            <a:ext cx="6346155" cy="181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Podrás ver el TOP 19 de organismos con mayor volumen de licitaciones, de esta manera saber en que clientes puedes enfocarte con mayor volumen/oportunidad.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257122"/>
            <a:ext cx="5542454" cy="1258328"/>
            <a:chOff x="0" y="0"/>
            <a:chExt cx="6757624" cy="15342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57595" cy="1534171"/>
            </a:xfrm>
            <a:custGeom>
              <a:avLst/>
              <a:gdLst/>
              <a:ahLst/>
              <a:cxnLst/>
              <a:rect r="r" b="b" t="t" l="l"/>
              <a:pathLst>
                <a:path h="1534171" w="6757595">
                  <a:moveTo>
                    <a:pt x="0" y="0"/>
                  </a:moveTo>
                  <a:lnTo>
                    <a:pt x="6757595" y="0"/>
                  </a:lnTo>
                  <a:lnTo>
                    <a:pt x="6757595" y="1534171"/>
                  </a:lnTo>
                  <a:lnTo>
                    <a:pt x="0" y="1534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0384" t="-24431" r="-3071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4908426"/>
            <a:ext cx="5542454" cy="1249656"/>
            <a:chOff x="0" y="0"/>
            <a:chExt cx="6757624" cy="1523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57595" cy="1523598"/>
            </a:xfrm>
            <a:custGeom>
              <a:avLst/>
              <a:gdLst/>
              <a:ahLst/>
              <a:cxnLst/>
              <a:rect r="r" b="b" t="t" l="l"/>
              <a:pathLst>
                <a:path h="1523598" w="6757595">
                  <a:moveTo>
                    <a:pt x="0" y="0"/>
                  </a:moveTo>
                  <a:lnTo>
                    <a:pt x="6757595" y="0"/>
                  </a:lnTo>
                  <a:lnTo>
                    <a:pt x="6757595" y="1523598"/>
                  </a:lnTo>
                  <a:lnTo>
                    <a:pt x="0" y="1523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5" t="-25303" r="-129495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3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ENTRAMIENTO DEL MOTOR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motor predictivo fue entrenado, evaluado y comparado utilizando distintos algoritmos de Machine Learning, con el objetivo de seleccionar el modelo con mejor desempeño para la identificación anticipada de licitaciones relevantes.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2652" y="5284375"/>
            <a:ext cx="14629590" cy="4704149"/>
          </a:xfrm>
          <a:custGeom>
            <a:avLst/>
            <a:gdLst/>
            <a:ahLst/>
            <a:cxnLst/>
            <a:rect r="r" b="b" t="t" l="l"/>
            <a:pathLst>
              <a:path h="4704149" w="14629590">
                <a:moveTo>
                  <a:pt x="0" y="0"/>
                </a:moveTo>
                <a:lnTo>
                  <a:pt x="14629591" y="0"/>
                </a:lnTo>
                <a:lnTo>
                  <a:pt x="14629591" y="4704149"/>
                </a:lnTo>
                <a:lnTo>
                  <a:pt x="0" y="4704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0" t="-16944" r="-2756" b="-1941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71021" y="7212330"/>
            <a:ext cx="1636262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RL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18.69 RMSE: 21.92 MAPE: 41.64 %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960972" y="6408325"/>
            <a:ext cx="1950253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10.77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13.72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26.32 %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241186" y="7231285"/>
            <a:ext cx="1636262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XGBoost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16.94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19.04 MAPE : 38.27 %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065960" y="5854398"/>
            <a:ext cx="2368906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Optimizado.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12.4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14.53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27.86 %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37847" y="5086350"/>
            <a:ext cx="3363611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Híbrido.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11.49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13.85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26.23%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COMPARATIVA DE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Modelo 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7210" y="3568141"/>
            <a:ext cx="12914704" cy="6515180"/>
            <a:chOff x="0" y="0"/>
            <a:chExt cx="5689600" cy="2870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2870327"/>
            </a:xfrm>
            <a:custGeom>
              <a:avLst/>
              <a:gdLst/>
              <a:ahLst/>
              <a:cxnLst/>
              <a:rect r="r" b="b" t="t" l="l"/>
              <a:pathLst>
                <a:path h="2870327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2870327"/>
                  </a:lnTo>
                  <a:lnTo>
                    <a:pt x="0" y="2870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</a:t>
            </a: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RATIVA DE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Modelo 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7210" y="3568141"/>
            <a:ext cx="12914704" cy="6515180"/>
            <a:chOff x="0" y="0"/>
            <a:chExt cx="5689600" cy="2870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2870327"/>
            </a:xfrm>
            <a:custGeom>
              <a:avLst/>
              <a:gdLst/>
              <a:ahLst/>
              <a:cxnLst/>
              <a:rect r="r" b="b" t="t" l="l"/>
              <a:pathLst>
                <a:path h="2870327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2870327"/>
                  </a:lnTo>
                  <a:lnTo>
                    <a:pt x="0" y="2870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726" t="0" r="-14726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37210" y="3568141"/>
            <a:ext cx="12914740" cy="6515180"/>
            <a:chOff x="0" y="0"/>
            <a:chExt cx="5614797" cy="28325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4797" cy="2832481"/>
            </a:xfrm>
            <a:custGeom>
              <a:avLst/>
              <a:gdLst/>
              <a:ahLst/>
              <a:cxnLst/>
              <a:rect r="r" b="b" t="t" l="l"/>
              <a:pathLst>
                <a:path h="2832481" w="5614797">
                  <a:moveTo>
                    <a:pt x="0" y="0"/>
                  </a:moveTo>
                  <a:lnTo>
                    <a:pt x="5614797" y="0"/>
                  </a:lnTo>
                  <a:lnTo>
                    <a:pt x="5614797" y="2832481"/>
                  </a:lnTo>
                  <a:lnTo>
                    <a:pt x="0" y="2832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</a:t>
            </a: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RATIVA DE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XGboost VS Random Forest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7210" y="4765502"/>
            <a:ext cx="12914704" cy="5317819"/>
            <a:chOff x="0" y="0"/>
            <a:chExt cx="8017878" cy="33014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17891" cy="3301492"/>
            </a:xfrm>
            <a:custGeom>
              <a:avLst/>
              <a:gdLst/>
              <a:ahLst/>
              <a:cxnLst/>
              <a:rect r="r" b="b" t="t" l="l"/>
              <a:pathLst>
                <a:path h="3301492" w="8017891">
                  <a:moveTo>
                    <a:pt x="0" y="0"/>
                  </a:moveTo>
                  <a:lnTo>
                    <a:pt x="8017891" y="0"/>
                  </a:lnTo>
                  <a:lnTo>
                    <a:pt x="8017891" y="3301492"/>
                  </a:lnTo>
                  <a:lnTo>
                    <a:pt x="0" y="330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71021" y="5086350"/>
            <a:ext cx="1950253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XGBoost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16.94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19.04 MAPE : 38.27 %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71021" y="7704453"/>
            <a:ext cx="1950253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10.77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13.72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26.32 %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</a:t>
            </a: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RATIVA DE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RF base vs RF Optimizado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7210" y="4765502"/>
            <a:ext cx="12914704" cy="5317819"/>
            <a:chOff x="0" y="0"/>
            <a:chExt cx="8017878" cy="33014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17891" cy="3301492"/>
            </a:xfrm>
            <a:custGeom>
              <a:avLst/>
              <a:gdLst/>
              <a:ahLst/>
              <a:cxnLst/>
              <a:rect r="r" b="b" t="t" l="l"/>
              <a:pathLst>
                <a:path h="3301492" w="8017891">
                  <a:moveTo>
                    <a:pt x="0" y="0"/>
                  </a:moveTo>
                  <a:lnTo>
                    <a:pt x="8017891" y="0"/>
                  </a:lnTo>
                  <a:lnTo>
                    <a:pt x="8017891" y="3301492"/>
                  </a:lnTo>
                  <a:lnTo>
                    <a:pt x="0" y="330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30" t="0" r="-28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37210" y="4312825"/>
            <a:ext cx="14060342" cy="5789546"/>
            <a:chOff x="0" y="0"/>
            <a:chExt cx="8238846" cy="3392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8871" cy="3392424"/>
            </a:xfrm>
            <a:custGeom>
              <a:avLst/>
              <a:gdLst/>
              <a:ahLst/>
              <a:cxnLst/>
              <a:rect r="r" b="b" t="t" l="l"/>
              <a:pathLst>
                <a:path h="3392424" w="8238871">
                  <a:moveTo>
                    <a:pt x="0" y="0"/>
                  </a:moveTo>
                  <a:lnTo>
                    <a:pt x="8238871" y="0"/>
                  </a:lnTo>
                  <a:lnTo>
                    <a:pt x="8238871" y="3392424"/>
                  </a:lnTo>
                  <a:lnTo>
                    <a:pt x="0" y="3392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071021" y="5086350"/>
            <a:ext cx="2368906" cy="37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Optimizado.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12.4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14.53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27.86 %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</a:t>
            </a: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Base II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13.58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16.33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31.99 %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</a:t>
            </a: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RATIVA DE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RF base vs RF Optimizado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7210" y="4765502"/>
            <a:ext cx="12914704" cy="5317819"/>
            <a:chOff x="0" y="0"/>
            <a:chExt cx="8017878" cy="33014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17891" cy="3301492"/>
            </a:xfrm>
            <a:custGeom>
              <a:avLst/>
              <a:gdLst/>
              <a:ahLst/>
              <a:cxnLst/>
              <a:rect r="r" b="b" t="t" l="l"/>
              <a:pathLst>
                <a:path h="3301492" w="8017891">
                  <a:moveTo>
                    <a:pt x="0" y="0"/>
                  </a:moveTo>
                  <a:lnTo>
                    <a:pt x="8017891" y="0"/>
                  </a:lnTo>
                  <a:lnTo>
                    <a:pt x="8017891" y="3301492"/>
                  </a:lnTo>
                  <a:lnTo>
                    <a:pt x="0" y="330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30" t="0" r="-28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37210" y="4312825"/>
            <a:ext cx="14060342" cy="5789546"/>
            <a:chOff x="0" y="0"/>
            <a:chExt cx="8238846" cy="3392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8871" cy="3392424"/>
            </a:xfrm>
            <a:custGeom>
              <a:avLst/>
              <a:gdLst/>
              <a:ahLst/>
              <a:cxnLst/>
              <a:rect r="r" b="b" t="t" l="l"/>
              <a:pathLst>
                <a:path h="3392424" w="8238871">
                  <a:moveTo>
                    <a:pt x="0" y="0"/>
                  </a:moveTo>
                  <a:lnTo>
                    <a:pt x="8238871" y="0"/>
                  </a:lnTo>
                  <a:lnTo>
                    <a:pt x="8238871" y="3392424"/>
                  </a:lnTo>
                  <a:lnTo>
                    <a:pt x="0" y="3392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071021" y="5086350"/>
            <a:ext cx="2368906" cy="37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Optimizado.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12.4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14.53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27.86 %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</a:t>
            </a: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Base II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13.58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16.33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31.99 %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37210" y="4765502"/>
            <a:ext cx="12914704" cy="5317819"/>
            <a:chOff x="0" y="0"/>
            <a:chExt cx="8017878" cy="3301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7891" cy="3301492"/>
            </a:xfrm>
            <a:custGeom>
              <a:avLst/>
              <a:gdLst/>
              <a:ahLst/>
              <a:cxnLst/>
              <a:rect r="r" b="b" t="t" l="l"/>
              <a:pathLst>
                <a:path h="3301492" w="8017891">
                  <a:moveTo>
                    <a:pt x="0" y="0"/>
                  </a:moveTo>
                  <a:lnTo>
                    <a:pt x="8017891" y="0"/>
                  </a:lnTo>
                  <a:lnTo>
                    <a:pt x="8017891" y="3301492"/>
                  </a:lnTo>
                  <a:lnTo>
                    <a:pt x="0" y="3301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30" t="0" r="-28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037210" y="4293775"/>
            <a:ext cx="14060342" cy="5789546"/>
            <a:chOff x="0" y="0"/>
            <a:chExt cx="8238846" cy="3392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38871" cy="3392424"/>
            </a:xfrm>
            <a:custGeom>
              <a:avLst/>
              <a:gdLst/>
              <a:ahLst/>
              <a:cxnLst/>
              <a:rect r="r" b="b" t="t" l="l"/>
              <a:pathLst>
                <a:path h="3392424" w="8238871">
                  <a:moveTo>
                    <a:pt x="0" y="0"/>
                  </a:moveTo>
                  <a:lnTo>
                    <a:pt x="8238871" y="0"/>
                  </a:lnTo>
                  <a:lnTo>
                    <a:pt x="8238871" y="3392424"/>
                  </a:lnTo>
                  <a:lnTo>
                    <a:pt x="0" y="3392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0" r="0" b="-9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71021" y="2196636"/>
            <a:ext cx="13612854" cy="11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</a:t>
            </a:r>
            <a:r>
              <a:rPr lang="en-US" sz="6502" b="true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RATIVA DE MODELOS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1021" y="3575590"/>
            <a:ext cx="12775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Comparación Real vs Híbrido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9031" y="5086350"/>
            <a:ext cx="2368906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Híbrido.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11.49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13.85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26.23%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849031" y="7590328"/>
            <a:ext cx="1950253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 Base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MAE : 10.77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 : 13.72 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MAPE : 26.32 %</a:t>
            </a:r>
          </a:p>
          <a:p>
            <a:pPr algn="l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68949" y="4063517"/>
            <a:ext cx="12550102" cy="182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Encuentra a los mejores clientes por volumen.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96429" y="244447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42098" y="1673057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34285" y="7715460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8617" y="6944039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1"/>
                </a:lnTo>
                <a:lnTo>
                  <a:pt x="0" y="1542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916" y="8486880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2" y="0"/>
                </a:lnTo>
                <a:lnTo>
                  <a:pt x="6356452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40825" y="1928479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2" y="0"/>
                </a:lnTo>
                <a:lnTo>
                  <a:pt x="6356452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2310" y="5956183"/>
            <a:ext cx="1255010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598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Las empresas podran prepararse para presentar sus proyectos gracias al motor predictivo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8569" y="126190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4228" y="49047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1021" y="1725863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71021" y="4608944"/>
            <a:ext cx="15188279" cy="4651411"/>
          </a:xfrm>
          <a:custGeom>
            <a:avLst/>
            <a:gdLst/>
            <a:ahLst/>
            <a:cxnLst/>
            <a:rect r="r" b="b" t="t" l="l"/>
            <a:pathLst>
              <a:path h="4651411" w="15188279">
                <a:moveTo>
                  <a:pt x="0" y="0"/>
                </a:moveTo>
                <a:lnTo>
                  <a:pt x="15188279" y="0"/>
                </a:lnTo>
                <a:lnTo>
                  <a:pt x="15188279" y="4651410"/>
                </a:lnTo>
                <a:lnTo>
                  <a:pt x="0" y="465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1021" y="3282153"/>
            <a:ext cx="15518448" cy="79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7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ENCUENTRA EL MEJOR ORGANISMO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71021" y="4004834"/>
            <a:ext cx="15188279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Organismo Top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8437" y="-2466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4096" y="-796091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71153" y="439301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49163" y="2873320"/>
            <a:ext cx="11322334" cy="7288752"/>
          </a:xfrm>
          <a:custGeom>
            <a:avLst/>
            <a:gdLst/>
            <a:ahLst/>
            <a:cxnLst/>
            <a:rect r="r" b="b" t="t" l="l"/>
            <a:pathLst>
              <a:path h="7288752" w="11322334">
                <a:moveTo>
                  <a:pt x="0" y="0"/>
                </a:moveTo>
                <a:lnTo>
                  <a:pt x="11322334" y="0"/>
                </a:lnTo>
                <a:lnTo>
                  <a:pt x="11322334" y="7288752"/>
                </a:lnTo>
                <a:lnTo>
                  <a:pt x="0" y="7288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49163" y="1708679"/>
            <a:ext cx="11600815" cy="79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7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RANKING DE ORGANISMO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9163" y="2431360"/>
            <a:ext cx="15188279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Ranking comercial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2864" y="75405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8523" y="-696025"/>
            <a:ext cx="7315200" cy="1542840"/>
          </a:xfrm>
          <a:custGeom>
            <a:avLst/>
            <a:gdLst/>
            <a:ahLst/>
            <a:cxnLst/>
            <a:rect r="r" b="b" t="t" l="l"/>
            <a:pathLst>
              <a:path h="1542840" w="7315200">
                <a:moveTo>
                  <a:pt x="0" y="0"/>
                </a:moveTo>
                <a:lnTo>
                  <a:pt x="7315200" y="0"/>
                </a:lnTo>
                <a:lnTo>
                  <a:pt x="7315200" y="1542840"/>
                </a:lnTo>
                <a:lnTo>
                  <a:pt x="0" y="154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0" r="0" b="-2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6726" y="539367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5"/>
                </a:lnTo>
                <a:lnTo>
                  <a:pt x="0" y="39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71021" y="2912353"/>
            <a:ext cx="15451160" cy="6682085"/>
            <a:chOff x="0" y="0"/>
            <a:chExt cx="17232205" cy="7452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32192" cy="7452261"/>
            </a:xfrm>
            <a:custGeom>
              <a:avLst/>
              <a:gdLst/>
              <a:ahLst/>
              <a:cxnLst/>
              <a:rect r="r" b="b" t="t" l="l"/>
              <a:pathLst>
                <a:path h="7452261" w="17232192">
                  <a:moveTo>
                    <a:pt x="0" y="0"/>
                  </a:moveTo>
                  <a:lnTo>
                    <a:pt x="17232192" y="0"/>
                  </a:lnTo>
                  <a:lnTo>
                    <a:pt x="17232192" y="7452261"/>
                  </a:lnTo>
                  <a:lnTo>
                    <a:pt x="0" y="745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38" r="0" b="-43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6508" y="1652424"/>
            <a:ext cx="13240074" cy="60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7"/>
              </a:lnSpc>
            </a:pPr>
            <a:r>
              <a:rPr lang="en-US" sz="6502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 REAL DE USO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1021" y="2289418"/>
            <a:ext cx="15188279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Anticipación exacta del organismo Salud Coquimbo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7093" y="7511767"/>
            <a:ext cx="7315200" cy="2380764"/>
          </a:xfrm>
          <a:custGeom>
            <a:avLst/>
            <a:gdLst/>
            <a:ahLst/>
            <a:cxnLst/>
            <a:rect r="r" b="b" t="t" l="l"/>
            <a:pathLst>
              <a:path h="2380764" w="7315200">
                <a:moveTo>
                  <a:pt x="0" y="0"/>
                </a:moveTo>
                <a:lnTo>
                  <a:pt x="7315200" y="0"/>
                </a:lnTo>
                <a:lnTo>
                  <a:pt x="7315200" y="2380765"/>
                </a:lnTo>
                <a:lnTo>
                  <a:pt x="0" y="2380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4" t="0" r="-5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5842" y="9258300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4034" y="3487007"/>
            <a:ext cx="16059922" cy="4296032"/>
            <a:chOff x="0" y="0"/>
            <a:chExt cx="21413229" cy="57280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215" cy="5728081"/>
            </a:xfrm>
            <a:custGeom>
              <a:avLst/>
              <a:gdLst/>
              <a:ahLst/>
              <a:cxnLst/>
              <a:rect r="r" b="b" t="t" l="l"/>
              <a:pathLst>
                <a:path h="5728081" w="21413215">
                  <a:moveTo>
                    <a:pt x="0" y="0"/>
                  </a:moveTo>
                  <a:lnTo>
                    <a:pt x="21413215" y="0"/>
                  </a:lnTo>
                  <a:lnTo>
                    <a:pt x="21413215" y="5728081"/>
                  </a:lnTo>
                  <a:lnTo>
                    <a:pt x="0" y="5728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3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4880" y="1276350"/>
            <a:ext cx="14008941" cy="73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VENTAJA COMPETITIVA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4034" y="2993917"/>
            <a:ext cx="8029966" cy="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79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Mercado tradicional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993917"/>
            <a:ext cx="8029966" cy="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799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Compra Chile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7093" y="7270480"/>
            <a:ext cx="7315200" cy="2380764"/>
          </a:xfrm>
          <a:custGeom>
            <a:avLst/>
            <a:gdLst/>
            <a:ahLst/>
            <a:cxnLst/>
            <a:rect r="r" b="b" t="t" l="l"/>
            <a:pathLst>
              <a:path h="2380764" w="7315200">
                <a:moveTo>
                  <a:pt x="0" y="0"/>
                </a:moveTo>
                <a:lnTo>
                  <a:pt x="7315200" y="0"/>
                </a:lnTo>
                <a:lnTo>
                  <a:pt x="7315200" y="2380764"/>
                </a:lnTo>
                <a:lnTo>
                  <a:pt x="0" y="2380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4" t="0" r="-5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5842" y="9258300"/>
            <a:ext cx="6356452" cy="392944"/>
          </a:xfrm>
          <a:custGeom>
            <a:avLst/>
            <a:gdLst/>
            <a:ahLst/>
            <a:cxnLst/>
            <a:rect r="r" b="b" t="t" l="l"/>
            <a:pathLst>
              <a:path h="392944" w="6356452">
                <a:moveTo>
                  <a:pt x="0" y="0"/>
                </a:moveTo>
                <a:lnTo>
                  <a:pt x="6356451" y="0"/>
                </a:lnTo>
                <a:lnTo>
                  <a:pt x="6356451" y="392944"/>
                </a:lnTo>
                <a:lnTo>
                  <a:pt x="0" y="3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74" r="0" b="-327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84880" y="1276350"/>
            <a:ext cx="6980555" cy="8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65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84880" y="2485687"/>
            <a:ext cx="14070652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 INICIAL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4880" y="3157558"/>
            <a:ext cx="14785409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Empezamos con la idea de ver si existia una ciclicidad o posible forma de predecir el lanzamiento de licitaciones en el mercado chileno. No sabíamos si existía o no.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880" y="4596520"/>
            <a:ext cx="14070652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CONCLUSIONES A LAS QUE LLEGAMSO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4880" y="5268391"/>
            <a:ext cx="14785409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Vimos que si existía una ciclicidad en los organismos, pero no todos son ciclicos, ademas de hallar un modelo predictivo con posibilidad de adaptación a otros mercados, pudimos saber que organismos son potencialmente mas probables a lanzar una licitación.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4880" y="6977176"/>
            <a:ext cx="14785409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Chile compra da herramientas a las empresas para prepararse antes de que notifiquen una licitación.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7145" y="2726503"/>
            <a:ext cx="10444039" cy="49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48"/>
              </a:lnSpc>
            </a:pPr>
            <a:r>
              <a:rPr lang="en-US" sz="8201">
                <a:solidFill>
                  <a:srgbClr val="F6F6F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 GRACIAS, POR EL APRENDIZAJE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061184" y="1523457"/>
            <a:ext cx="11535080" cy="10958322"/>
          </a:xfrm>
          <a:custGeom>
            <a:avLst/>
            <a:gdLst/>
            <a:ahLst/>
            <a:cxnLst/>
            <a:rect r="r" b="b" t="t" l="l"/>
            <a:pathLst>
              <a:path h="10958322" w="11535080">
                <a:moveTo>
                  <a:pt x="0" y="0"/>
                </a:moveTo>
                <a:lnTo>
                  <a:pt x="11535079" y="0"/>
                </a:lnTo>
                <a:lnTo>
                  <a:pt x="11535079" y="10958322"/>
                </a:lnTo>
                <a:lnTo>
                  <a:pt x="0" y="10958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" t="0" r="-17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DAHG24cpFh8</dc:identifier>
  <dcterms:modified xsi:type="dcterms:W3CDTF">2011-08-01T06:04:30Z</dcterms:modified>
  <cp:revision>1</cp:revision>
  <dc:title>PRESENTACION CONDORESV2.pptx</dc:title>
</cp:coreProperties>
</file>